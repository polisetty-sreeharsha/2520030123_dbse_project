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0"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image" Target="../media/image8.png"/><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2438400" y="4389090"/>
            <a:ext cx="3562350" cy="723900"/>
          </a:xfrm>
          <a:prstGeom prst="rect">
            <a:avLst/>
          </a:prstGeom>
        </p:spPr>
      </p:pic>
      <p:pic>
        <p:nvPicPr>
          <p:cNvPr id="4" name="Picture 3" descr="image.png"/>
          <p:cNvPicPr>
            <a:picLocks noChangeAspect="1"/>
          </p:cNvPicPr>
          <p:nvPr/>
        </p:nvPicPr>
        <p:blipFill>
          <a:blip r:embed="rId4"/>
          <a:stretch>
            <a:fillRect/>
          </a:stretch>
        </p:blipFill>
        <p:spPr>
          <a:xfrm>
            <a:off x="6191250" y="4389090"/>
            <a:ext cx="3562350" cy="723900"/>
          </a:xfrm>
          <a:prstGeom prst="rect">
            <a:avLst/>
          </a:prstGeom>
        </p:spPr>
      </p:pic>
      <p:pic>
        <p:nvPicPr>
          <p:cNvPr id="6" name="Picture 5" descr="image.png"/>
          <p:cNvPicPr>
            <a:picLocks noChangeAspect="1"/>
          </p:cNvPicPr>
          <p:nvPr/>
        </p:nvPicPr>
        <p:blipFill>
          <a:blip r:embed="rId5"/>
          <a:stretch>
            <a:fillRect/>
          </a:stretch>
        </p:blipFill>
        <p:spPr>
          <a:xfrm>
            <a:off x="2047875" y="3750915"/>
            <a:ext cx="8096250" cy="1609725"/>
          </a:xfrm>
          <a:prstGeom prst="rect">
            <a:avLst/>
          </a:prstGeom>
        </p:spPr>
      </p:pic>
      <p:sp>
        <p:nvSpPr>
          <p:cNvPr id="8" name="TextBox 7"/>
          <p:cNvSpPr txBox="1"/>
          <p:nvPr/>
        </p:nvSpPr>
        <p:spPr>
          <a:xfrm>
            <a:off x="2438400" y="3998565"/>
            <a:ext cx="7315200" cy="200025"/>
          </a:xfrm>
          <a:prstGeom prst="rect">
            <a:avLst/>
          </a:prstGeom>
          <a:noFill/>
        </p:spPr>
        <p:txBody>
          <a:bodyPr wrap="square" lIns="0" tIns="0" rIns="0" bIns="0" anchor="t">
            <a:spAutoFit/>
          </a:bodyPr>
          <a:lstStyle/>
          <a:p>
            <a:pPr algn="ctr"/>
            <a:r>
              <a:rPr sz="1200" b="1" i="0" u="none">
                <a:solidFill>
                  <a:srgbClr val="F472B6"/>
                </a:solidFill>
                <a:latin typeface="Plus Jakarta Sans"/>
              </a:rPr>
              <a:t>TEAM MEMBERS</a:t>
            </a:r>
          </a:p>
        </p:txBody>
      </p:sp>
      <p:pic>
        <p:nvPicPr>
          <p:cNvPr id="9" name="Picture 8" descr="image.png"/>
          <p:cNvPicPr>
            <a:picLocks noChangeAspect="1"/>
          </p:cNvPicPr>
          <p:nvPr/>
        </p:nvPicPr>
        <p:blipFill>
          <a:blip r:embed="rId6"/>
          <a:stretch>
            <a:fillRect/>
          </a:stretch>
        </p:blipFill>
        <p:spPr>
          <a:xfrm>
            <a:off x="2638425" y="4541490"/>
            <a:ext cx="419100" cy="419100"/>
          </a:xfrm>
          <a:prstGeom prst="rect">
            <a:avLst/>
          </a:prstGeom>
        </p:spPr>
      </p:pic>
      <p:pic>
        <p:nvPicPr>
          <p:cNvPr id="10" name="Picture 9" descr="image.png"/>
          <p:cNvPicPr>
            <a:picLocks noChangeAspect="1"/>
          </p:cNvPicPr>
          <p:nvPr/>
        </p:nvPicPr>
        <p:blipFill>
          <a:blip r:embed="rId7"/>
          <a:stretch>
            <a:fillRect/>
          </a:stretch>
        </p:blipFill>
        <p:spPr>
          <a:xfrm>
            <a:off x="6391275" y="4541490"/>
            <a:ext cx="419100" cy="419100"/>
          </a:xfrm>
          <a:prstGeom prst="rect">
            <a:avLst/>
          </a:prstGeom>
        </p:spPr>
      </p:pic>
      <p:pic>
        <p:nvPicPr>
          <p:cNvPr id="11" name="Picture 10" descr="image.png"/>
          <p:cNvPicPr>
            <a:picLocks noChangeAspect="1"/>
          </p:cNvPicPr>
          <p:nvPr/>
        </p:nvPicPr>
        <p:blipFill>
          <a:blip r:embed="rId8"/>
          <a:stretch>
            <a:fillRect/>
          </a:stretch>
        </p:blipFill>
        <p:spPr>
          <a:xfrm>
            <a:off x="2771775" y="4665315"/>
            <a:ext cx="152400" cy="171450"/>
          </a:xfrm>
          <a:prstGeom prst="rect">
            <a:avLst/>
          </a:prstGeom>
        </p:spPr>
      </p:pic>
      <p:sp>
        <p:nvSpPr>
          <p:cNvPr id="12" name="TextBox 11"/>
          <p:cNvSpPr txBox="1"/>
          <p:nvPr/>
        </p:nvSpPr>
        <p:spPr>
          <a:xfrm>
            <a:off x="3200400" y="4565302"/>
            <a:ext cx="1724025" cy="152400"/>
          </a:xfrm>
          <a:prstGeom prst="rect">
            <a:avLst/>
          </a:prstGeom>
          <a:noFill/>
        </p:spPr>
        <p:txBody>
          <a:bodyPr wrap="square" lIns="0" tIns="0" rIns="0" bIns="0" anchor="t">
            <a:spAutoFit/>
          </a:bodyPr>
          <a:lstStyle/>
          <a:p>
            <a:pPr algn="l"/>
            <a:r>
              <a:rPr sz="1050" b="0" i="0" u="none">
                <a:solidFill>
                  <a:srgbClr val="94A3B8"/>
                </a:solidFill>
                <a:latin typeface="monospace SemiBold"/>
              </a:rPr>
              <a:t>2520030123</a:t>
            </a:r>
          </a:p>
        </p:txBody>
      </p:sp>
      <p:sp>
        <p:nvSpPr>
          <p:cNvPr id="13" name="TextBox 12"/>
          <p:cNvSpPr txBox="1"/>
          <p:nvPr/>
        </p:nvSpPr>
        <p:spPr>
          <a:xfrm>
            <a:off x="3200400" y="4717702"/>
            <a:ext cx="1724025" cy="219075"/>
          </a:xfrm>
          <a:prstGeom prst="rect">
            <a:avLst/>
          </a:prstGeom>
          <a:noFill/>
        </p:spPr>
        <p:txBody>
          <a:bodyPr wrap="square" lIns="0" tIns="0" rIns="0" bIns="0" anchor="t">
            <a:spAutoFit/>
          </a:bodyPr>
          <a:lstStyle/>
          <a:p>
            <a:pPr algn="l"/>
            <a:r>
              <a:rPr sz="1350" b="1" i="0" u="none">
                <a:solidFill>
                  <a:srgbClr val="FFFFFF"/>
                </a:solidFill>
                <a:latin typeface="Plus Jakarta Sans"/>
              </a:rPr>
              <a:t>Polisetty Sreeharsha</a:t>
            </a:r>
          </a:p>
        </p:txBody>
      </p:sp>
      <p:pic>
        <p:nvPicPr>
          <p:cNvPr id="14" name="Picture 13" descr="image.png"/>
          <p:cNvPicPr>
            <a:picLocks noChangeAspect="1"/>
          </p:cNvPicPr>
          <p:nvPr/>
        </p:nvPicPr>
        <p:blipFill>
          <a:blip r:embed="rId8"/>
          <a:stretch>
            <a:fillRect/>
          </a:stretch>
        </p:blipFill>
        <p:spPr>
          <a:xfrm>
            <a:off x="6524625" y="4665315"/>
            <a:ext cx="152400" cy="171450"/>
          </a:xfrm>
          <a:prstGeom prst="rect">
            <a:avLst/>
          </a:prstGeom>
        </p:spPr>
      </p:pic>
      <p:sp>
        <p:nvSpPr>
          <p:cNvPr id="15" name="TextBox 14"/>
          <p:cNvSpPr txBox="1"/>
          <p:nvPr/>
        </p:nvSpPr>
        <p:spPr>
          <a:xfrm>
            <a:off x="6953250" y="4565302"/>
            <a:ext cx="1628775" cy="152400"/>
          </a:xfrm>
          <a:prstGeom prst="rect">
            <a:avLst/>
          </a:prstGeom>
          <a:noFill/>
        </p:spPr>
        <p:txBody>
          <a:bodyPr wrap="square" lIns="0" tIns="0" rIns="0" bIns="0" anchor="t">
            <a:spAutoFit/>
          </a:bodyPr>
          <a:lstStyle/>
          <a:p>
            <a:pPr algn="l"/>
            <a:r>
              <a:rPr sz="1050" b="0" i="0" u="none">
                <a:solidFill>
                  <a:srgbClr val="94A3B8"/>
                </a:solidFill>
                <a:latin typeface="monospace SemiBold"/>
              </a:rPr>
              <a:t>2520030232</a:t>
            </a:r>
          </a:p>
        </p:txBody>
      </p:sp>
      <p:sp>
        <p:nvSpPr>
          <p:cNvPr id="16" name="TextBox 15"/>
          <p:cNvSpPr txBox="1"/>
          <p:nvPr/>
        </p:nvSpPr>
        <p:spPr>
          <a:xfrm>
            <a:off x="6953250" y="4717702"/>
            <a:ext cx="1628775" cy="219075"/>
          </a:xfrm>
          <a:prstGeom prst="rect">
            <a:avLst/>
          </a:prstGeom>
          <a:noFill/>
        </p:spPr>
        <p:txBody>
          <a:bodyPr wrap="square" lIns="0" tIns="0" rIns="0" bIns="0" anchor="t">
            <a:spAutoFit/>
          </a:bodyPr>
          <a:lstStyle/>
          <a:p>
            <a:pPr algn="l"/>
            <a:r>
              <a:rPr sz="1350" b="1" i="0" u="none">
                <a:solidFill>
                  <a:srgbClr val="FFFFFF"/>
                </a:solidFill>
                <a:latin typeface="Plus Jakarta Sans"/>
              </a:rPr>
              <a:t>Adunuri Bhavana sri</a:t>
            </a:r>
          </a:p>
        </p:txBody>
      </p:sp>
      <p:sp>
        <p:nvSpPr>
          <p:cNvPr id="17" name="TextBox 16"/>
          <p:cNvSpPr txBox="1"/>
          <p:nvPr/>
        </p:nvSpPr>
        <p:spPr>
          <a:xfrm>
            <a:off x="1095375" y="2087909"/>
            <a:ext cx="10001250" cy="1234380"/>
          </a:xfrm>
          <a:prstGeom prst="rect">
            <a:avLst/>
          </a:prstGeom>
          <a:noFill/>
        </p:spPr>
        <p:txBody>
          <a:bodyPr wrap="square" lIns="0" tIns="0" rIns="0" bIns="0" anchor="t">
            <a:spAutoFit/>
          </a:bodyPr>
          <a:lstStyle/>
          <a:p>
            <a:pPr algn="ctr">
              <a:lnSpc>
                <a:spcPts val="4859"/>
              </a:lnSpc>
            </a:pPr>
            <a:r>
              <a:rPr sz="4050" b="0" i="0" u="none">
                <a:solidFill>
                  <a:srgbClr val="FFFFFF"/>
                </a:solidFill>
                <a:latin typeface="Outfit ExtraBold"/>
              </a:rPr>
              <a:t>Online Examination and Proctoring Platform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240756"/>
            <a:ext cx="5405437" cy="3119437"/>
          </a:xfrm>
          <a:prstGeom prst="rect">
            <a:avLst/>
          </a:prstGeom>
        </p:spPr>
      </p:pic>
      <p:pic>
        <p:nvPicPr>
          <p:cNvPr id="4" name="Picture 3" descr="image.png"/>
          <p:cNvPicPr>
            <a:picLocks noChangeAspect="1"/>
          </p:cNvPicPr>
          <p:nvPr/>
        </p:nvPicPr>
        <p:blipFill>
          <a:blip r:embed="rId4"/>
          <a:stretch>
            <a:fillRect/>
          </a:stretch>
        </p:blipFill>
        <p:spPr>
          <a:xfrm>
            <a:off x="6215062" y="2240756"/>
            <a:ext cx="5405437" cy="3119437"/>
          </a:xfrm>
          <a:prstGeom prst="rect">
            <a:avLst/>
          </a:prstGeom>
        </p:spPr>
      </p:pic>
      <p:pic>
        <p:nvPicPr>
          <p:cNvPr id="5" name="Picture 4" descr="image.png"/>
          <p:cNvPicPr>
            <a:picLocks noChangeAspect="1"/>
          </p:cNvPicPr>
          <p:nvPr/>
        </p:nvPicPr>
        <p:blipFill>
          <a:blip r:embed="rId5"/>
          <a:stretch>
            <a:fillRect/>
          </a:stretch>
        </p:blipFill>
        <p:spPr>
          <a:xfrm>
            <a:off x="876300" y="2545556"/>
            <a:ext cx="2228850" cy="295275"/>
          </a:xfrm>
          <a:prstGeom prst="rect">
            <a:avLst/>
          </a:prstGeom>
        </p:spPr>
      </p:pic>
      <p:pic>
        <p:nvPicPr>
          <p:cNvPr id="6" name="Picture 5" descr="image.png"/>
          <p:cNvPicPr>
            <a:picLocks noChangeAspect="1"/>
          </p:cNvPicPr>
          <p:nvPr/>
        </p:nvPicPr>
        <p:blipFill>
          <a:blip r:embed="rId6"/>
          <a:stretch>
            <a:fillRect/>
          </a:stretch>
        </p:blipFill>
        <p:spPr>
          <a:xfrm>
            <a:off x="6519862" y="2545556"/>
            <a:ext cx="2495550" cy="295275"/>
          </a:xfrm>
          <a:prstGeom prst="rect">
            <a:avLst/>
          </a:prstGeom>
        </p:spPr>
      </p:pic>
      <p:sp>
        <p:nvSpPr>
          <p:cNvPr id="7" name="TextBox 6"/>
          <p:cNvSpPr txBox="1"/>
          <p:nvPr/>
        </p:nvSpPr>
        <p:spPr>
          <a:xfrm>
            <a:off x="876300" y="2983706"/>
            <a:ext cx="4795837" cy="1769587"/>
          </a:xfrm>
          <a:prstGeom prst="rect">
            <a:avLst/>
          </a:prstGeom>
          <a:noFill/>
        </p:spPr>
        <p:txBody>
          <a:bodyPr wrap="square" lIns="0" tIns="0" rIns="0" bIns="0" anchor="t">
            <a:spAutoFit/>
          </a:bodyPr>
          <a:lstStyle/>
          <a:p>
            <a:pPr algn="l">
              <a:lnSpc>
                <a:spcPts val="2039"/>
              </a:lnSpc>
            </a:pPr>
            <a:r>
              <a:rPr sz="1400" b="0" i="0" u="none" dirty="0">
                <a:solidFill>
                  <a:srgbClr val="334155"/>
                </a:solidFill>
                <a:latin typeface="Times New Roman" panose="02020603050405020304" pitchFamily="18" charset="0"/>
                <a:cs typeface="Times New Roman" panose="02020603050405020304" pitchFamily="18" charset="0"/>
              </a:rPr>
              <a:t>The Online Examination and Proctoring Platform is a web-based system designed to make online examinations easier to conduct and manage for both students and faculty. Faculty can create exams, add questions, schedule exams, and view results, while students can log in, attend exams within a given time, submit their answers, and view their results. The system stores student, examination, answer, and result details in a database.</a:t>
            </a:r>
          </a:p>
        </p:txBody>
      </p:sp>
      <p:sp>
        <p:nvSpPr>
          <p:cNvPr id="8" name="TextBox 7"/>
          <p:cNvSpPr txBox="1"/>
          <p:nvPr/>
        </p:nvSpPr>
        <p:spPr>
          <a:xfrm>
            <a:off x="6519862" y="2983706"/>
            <a:ext cx="4795837" cy="2029851"/>
          </a:xfrm>
          <a:prstGeom prst="rect">
            <a:avLst/>
          </a:prstGeom>
          <a:noFill/>
        </p:spPr>
        <p:txBody>
          <a:bodyPr wrap="square" lIns="0" tIns="0" rIns="0" bIns="0" anchor="t">
            <a:spAutoFit/>
          </a:bodyPr>
          <a:lstStyle/>
          <a:p>
            <a:pPr algn="l">
              <a:lnSpc>
                <a:spcPts val="2039"/>
              </a:lnSpc>
            </a:pPr>
            <a:r>
              <a:rPr sz="1400" b="0" i="0" u="none" dirty="0">
                <a:solidFill>
                  <a:srgbClr val="334155"/>
                </a:solidFill>
                <a:latin typeface="Times New Roman" panose="02020603050405020304" pitchFamily="18" charset="0"/>
                <a:cs typeface="Times New Roman" panose="02020603050405020304" pitchFamily="18" charset="0"/>
              </a:rPr>
              <a:t>The platform also provides basic proctoring features to record activities such as tab switching, exiting full-screen mode, and other suspicious actions during an examination. Faculty can review these activities along with the examination results. The main aim is to provide a simple and reliable platform for conducting online examinations while applying backend concepts such as authentication, APIs, database management, and secure data handling.</a:t>
            </a:r>
          </a:p>
        </p:txBody>
      </p:sp>
      <p:pic>
        <p:nvPicPr>
          <p:cNvPr id="9" name="Picture 8" descr="image.png"/>
          <p:cNvPicPr>
            <a:picLocks noChangeAspect="1"/>
          </p:cNvPicPr>
          <p:nvPr/>
        </p:nvPicPr>
        <p:blipFill>
          <a:blip r:embed="rId7"/>
          <a:stretch>
            <a:fillRect/>
          </a:stretch>
        </p:blipFill>
        <p:spPr>
          <a:xfrm>
            <a:off x="1009650" y="2621756"/>
            <a:ext cx="180975" cy="142875"/>
          </a:xfrm>
          <a:prstGeom prst="rect">
            <a:avLst/>
          </a:prstGeom>
        </p:spPr>
      </p:pic>
      <p:pic>
        <p:nvPicPr>
          <p:cNvPr id="10" name="Picture 9" descr="image.png"/>
          <p:cNvPicPr>
            <a:picLocks noChangeAspect="1"/>
          </p:cNvPicPr>
          <p:nvPr/>
        </p:nvPicPr>
        <p:blipFill>
          <a:blip r:embed="rId8"/>
          <a:stretch>
            <a:fillRect/>
          </a:stretch>
        </p:blipFill>
        <p:spPr>
          <a:xfrm>
            <a:off x="6653212" y="2621756"/>
            <a:ext cx="142875" cy="142875"/>
          </a:xfrm>
          <a:prstGeom prst="rect">
            <a:avLst/>
          </a:prstGeom>
        </p:spPr>
      </p:pic>
      <p:sp>
        <p:nvSpPr>
          <p:cNvPr id="11" name="TextBox 10"/>
          <p:cNvSpPr txBox="1"/>
          <p:nvPr/>
        </p:nvSpPr>
        <p:spPr>
          <a:xfrm>
            <a:off x="571500" y="476250"/>
            <a:ext cx="11601450" cy="457200"/>
          </a:xfrm>
          <a:prstGeom prst="rect">
            <a:avLst/>
          </a:prstGeom>
          <a:noFill/>
        </p:spPr>
        <p:txBody>
          <a:bodyPr wrap="square" lIns="0" tIns="0" rIns="0" bIns="0" anchor="ctr">
            <a:spAutoFit/>
          </a:bodyPr>
          <a:lstStyle/>
          <a:p>
            <a:pPr algn="l"/>
            <a:r>
              <a:rPr sz="2850" b="1" i="0" u="none">
                <a:solidFill>
                  <a:srgbClr val="0F172A"/>
                </a:solidFill>
                <a:latin typeface="Outfit"/>
              </a:rPr>
              <a:t>Abstract</a:t>
            </a:r>
          </a:p>
        </p:txBody>
      </p:sp>
      <p:sp>
        <p:nvSpPr>
          <p:cNvPr id="12" name="Rounded Rectangle 11"/>
          <p:cNvSpPr/>
          <p:nvPr/>
        </p:nvSpPr>
        <p:spPr>
          <a:xfrm>
            <a:off x="571500" y="933450"/>
            <a:ext cx="76200" cy="36195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657475"/>
            <a:ext cx="5429250" cy="1047750"/>
          </a:xfrm>
          <a:prstGeom prst="rect">
            <a:avLst/>
          </a:prstGeom>
        </p:spPr>
      </p:pic>
      <p:pic>
        <p:nvPicPr>
          <p:cNvPr id="4" name="Picture 3" descr="image.png"/>
          <p:cNvPicPr>
            <a:picLocks noChangeAspect="1"/>
          </p:cNvPicPr>
          <p:nvPr/>
        </p:nvPicPr>
        <p:blipFill>
          <a:blip r:embed="rId4"/>
          <a:stretch>
            <a:fillRect/>
          </a:stretch>
        </p:blipFill>
        <p:spPr>
          <a:xfrm>
            <a:off x="6191250" y="2657475"/>
            <a:ext cx="5429250" cy="1047750"/>
          </a:xfrm>
          <a:prstGeom prst="rect">
            <a:avLst/>
          </a:prstGeom>
        </p:spPr>
      </p:pic>
      <p:pic>
        <p:nvPicPr>
          <p:cNvPr id="5" name="Picture 4" descr="image.png"/>
          <p:cNvPicPr>
            <a:picLocks noChangeAspect="1"/>
          </p:cNvPicPr>
          <p:nvPr/>
        </p:nvPicPr>
        <p:blipFill>
          <a:blip r:embed="rId5"/>
          <a:stretch>
            <a:fillRect/>
          </a:stretch>
        </p:blipFill>
        <p:spPr>
          <a:xfrm>
            <a:off x="571500" y="3895725"/>
            <a:ext cx="5429250" cy="1047750"/>
          </a:xfrm>
          <a:prstGeom prst="rect">
            <a:avLst/>
          </a:prstGeom>
        </p:spPr>
      </p:pic>
      <p:pic>
        <p:nvPicPr>
          <p:cNvPr id="6" name="Picture 5" descr="image.png"/>
          <p:cNvPicPr>
            <a:picLocks noChangeAspect="1"/>
          </p:cNvPicPr>
          <p:nvPr/>
        </p:nvPicPr>
        <p:blipFill>
          <a:blip r:embed="rId6"/>
          <a:stretch>
            <a:fillRect/>
          </a:stretch>
        </p:blipFill>
        <p:spPr>
          <a:xfrm>
            <a:off x="6191250" y="3895725"/>
            <a:ext cx="5429250" cy="1047750"/>
          </a:xfrm>
          <a:prstGeom prst="rect">
            <a:avLst/>
          </a:prstGeom>
        </p:spPr>
      </p:pic>
      <p:pic>
        <p:nvPicPr>
          <p:cNvPr id="7" name="Picture 6" descr="image.png"/>
          <p:cNvPicPr>
            <a:picLocks noChangeAspect="1"/>
          </p:cNvPicPr>
          <p:nvPr/>
        </p:nvPicPr>
        <p:blipFill>
          <a:blip r:embed="rId7"/>
          <a:stretch>
            <a:fillRect/>
          </a:stretch>
        </p:blipFill>
        <p:spPr>
          <a:xfrm>
            <a:off x="819150" y="2905125"/>
            <a:ext cx="457200" cy="457200"/>
          </a:xfrm>
          <a:prstGeom prst="rect">
            <a:avLst/>
          </a:prstGeom>
        </p:spPr>
      </p:pic>
      <p:sp>
        <p:nvSpPr>
          <p:cNvPr id="8" name="TextBox 7"/>
          <p:cNvSpPr txBox="1"/>
          <p:nvPr/>
        </p:nvSpPr>
        <p:spPr>
          <a:xfrm>
            <a:off x="1447800" y="2943225"/>
            <a:ext cx="4305300" cy="514350"/>
          </a:xfrm>
          <a:prstGeom prst="rect">
            <a:avLst/>
          </a:prstGeom>
          <a:noFill/>
        </p:spPr>
        <p:txBody>
          <a:bodyPr wrap="square" lIns="0" tIns="0" rIns="0" bIns="0" anchor="t">
            <a:spAutoFit/>
          </a:bodyPr>
          <a:lstStyle/>
          <a:p>
            <a:pPr algn="l">
              <a:lnSpc>
                <a:spcPts val="2025"/>
              </a:lnSpc>
            </a:pPr>
            <a:r>
              <a:rPr sz="1350" b="0" i="0" u="none">
                <a:solidFill>
                  <a:srgbClr val="1E293B"/>
                </a:solidFill>
                <a:latin typeface="Plus Jakarta Sans Medium"/>
              </a:rPr>
              <a:t>Traditional online exam systems may not provide enough monitoring during examinations.</a:t>
            </a:r>
          </a:p>
        </p:txBody>
      </p:sp>
      <p:pic>
        <p:nvPicPr>
          <p:cNvPr id="9" name="Picture 8" descr="image.png"/>
          <p:cNvPicPr>
            <a:picLocks noChangeAspect="1"/>
          </p:cNvPicPr>
          <p:nvPr/>
        </p:nvPicPr>
        <p:blipFill>
          <a:blip r:embed="rId8"/>
          <a:stretch>
            <a:fillRect/>
          </a:stretch>
        </p:blipFill>
        <p:spPr>
          <a:xfrm>
            <a:off x="6438900" y="2905125"/>
            <a:ext cx="457200" cy="457200"/>
          </a:xfrm>
          <a:prstGeom prst="rect">
            <a:avLst/>
          </a:prstGeom>
        </p:spPr>
      </p:pic>
      <p:sp>
        <p:nvSpPr>
          <p:cNvPr id="10" name="TextBox 9"/>
          <p:cNvSpPr txBox="1"/>
          <p:nvPr/>
        </p:nvSpPr>
        <p:spPr>
          <a:xfrm>
            <a:off x="7067550" y="2943225"/>
            <a:ext cx="4305300" cy="514350"/>
          </a:xfrm>
          <a:prstGeom prst="rect">
            <a:avLst/>
          </a:prstGeom>
          <a:noFill/>
        </p:spPr>
        <p:txBody>
          <a:bodyPr wrap="square" lIns="0" tIns="0" rIns="0" bIns="0" anchor="t">
            <a:spAutoFit/>
          </a:bodyPr>
          <a:lstStyle/>
          <a:p>
            <a:pPr algn="l">
              <a:lnSpc>
                <a:spcPts val="2025"/>
              </a:lnSpc>
            </a:pPr>
            <a:r>
              <a:rPr sz="1350" b="0" i="0" u="none">
                <a:solidFill>
                  <a:srgbClr val="1E293B"/>
                </a:solidFill>
                <a:latin typeface="Plus Jakarta Sans Medium"/>
              </a:rPr>
              <a:t>Managing exams, questions, students, and results manually can be difficult.</a:t>
            </a:r>
          </a:p>
        </p:txBody>
      </p:sp>
      <p:pic>
        <p:nvPicPr>
          <p:cNvPr id="11" name="Picture 10" descr="image.png"/>
          <p:cNvPicPr>
            <a:picLocks noChangeAspect="1"/>
          </p:cNvPicPr>
          <p:nvPr/>
        </p:nvPicPr>
        <p:blipFill>
          <a:blip r:embed="rId9"/>
          <a:stretch>
            <a:fillRect/>
          </a:stretch>
        </p:blipFill>
        <p:spPr>
          <a:xfrm>
            <a:off x="819150" y="4143375"/>
            <a:ext cx="457200" cy="457200"/>
          </a:xfrm>
          <a:prstGeom prst="rect">
            <a:avLst/>
          </a:prstGeom>
        </p:spPr>
      </p:pic>
      <p:sp>
        <p:nvSpPr>
          <p:cNvPr id="12" name="TextBox 11"/>
          <p:cNvSpPr txBox="1"/>
          <p:nvPr/>
        </p:nvSpPr>
        <p:spPr>
          <a:xfrm>
            <a:off x="1447800" y="4181475"/>
            <a:ext cx="4305300" cy="514350"/>
          </a:xfrm>
          <a:prstGeom prst="rect">
            <a:avLst/>
          </a:prstGeom>
          <a:noFill/>
        </p:spPr>
        <p:txBody>
          <a:bodyPr wrap="square" lIns="0" tIns="0" rIns="0" bIns="0" anchor="t">
            <a:spAutoFit/>
          </a:bodyPr>
          <a:lstStyle/>
          <a:p>
            <a:pPr algn="l">
              <a:lnSpc>
                <a:spcPts val="2025"/>
              </a:lnSpc>
            </a:pPr>
            <a:r>
              <a:rPr sz="1350" b="0" i="0" u="none">
                <a:solidFill>
                  <a:srgbClr val="1E293B"/>
                </a:solidFill>
                <a:latin typeface="Plus Jakarta Sans Medium"/>
              </a:rPr>
              <a:t>It can be challenging for faculty to identify suspicious activities during an online exam.</a:t>
            </a:r>
          </a:p>
        </p:txBody>
      </p:sp>
      <p:pic>
        <p:nvPicPr>
          <p:cNvPr id="13" name="Picture 12" descr="image.png"/>
          <p:cNvPicPr>
            <a:picLocks noChangeAspect="1"/>
          </p:cNvPicPr>
          <p:nvPr/>
        </p:nvPicPr>
        <p:blipFill>
          <a:blip r:embed="rId10"/>
          <a:stretch>
            <a:fillRect/>
          </a:stretch>
        </p:blipFill>
        <p:spPr>
          <a:xfrm>
            <a:off x="6438900" y="4143375"/>
            <a:ext cx="457200" cy="457200"/>
          </a:xfrm>
          <a:prstGeom prst="rect">
            <a:avLst/>
          </a:prstGeom>
        </p:spPr>
      </p:pic>
      <p:sp>
        <p:nvSpPr>
          <p:cNvPr id="14" name="TextBox 13"/>
          <p:cNvSpPr txBox="1"/>
          <p:nvPr/>
        </p:nvSpPr>
        <p:spPr>
          <a:xfrm>
            <a:off x="7067550" y="4181475"/>
            <a:ext cx="4305300" cy="514350"/>
          </a:xfrm>
          <a:prstGeom prst="rect">
            <a:avLst/>
          </a:prstGeom>
          <a:noFill/>
        </p:spPr>
        <p:txBody>
          <a:bodyPr wrap="square" lIns="0" tIns="0" rIns="0" bIns="0" anchor="t">
            <a:spAutoFit/>
          </a:bodyPr>
          <a:lstStyle/>
          <a:p>
            <a:pPr algn="l">
              <a:lnSpc>
                <a:spcPts val="2025"/>
              </a:lnSpc>
            </a:pPr>
            <a:r>
              <a:rPr sz="1350" b="0" i="0" u="none">
                <a:solidFill>
                  <a:srgbClr val="1E293B"/>
                </a:solidFill>
                <a:latin typeface="Plus Jakarta Sans Medium"/>
              </a:rPr>
              <a:t>A simple system is needed to manage examinations and record important activities in one place.</a:t>
            </a:r>
          </a:p>
        </p:txBody>
      </p:sp>
      <p:pic>
        <p:nvPicPr>
          <p:cNvPr id="15" name="Picture 14" descr="image.png"/>
          <p:cNvPicPr>
            <a:picLocks noChangeAspect="1"/>
          </p:cNvPicPr>
          <p:nvPr/>
        </p:nvPicPr>
        <p:blipFill>
          <a:blip r:embed="rId11"/>
          <a:stretch>
            <a:fillRect/>
          </a:stretch>
        </p:blipFill>
        <p:spPr>
          <a:xfrm>
            <a:off x="928687" y="3038475"/>
            <a:ext cx="238125" cy="190500"/>
          </a:xfrm>
          <a:prstGeom prst="rect">
            <a:avLst/>
          </a:prstGeom>
        </p:spPr>
      </p:pic>
      <p:pic>
        <p:nvPicPr>
          <p:cNvPr id="16" name="Picture 15" descr="image.png"/>
          <p:cNvPicPr>
            <a:picLocks noChangeAspect="1"/>
          </p:cNvPicPr>
          <p:nvPr/>
        </p:nvPicPr>
        <p:blipFill>
          <a:blip r:embed="rId12"/>
          <a:stretch>
            <a:fillRect/>
          </a:stretch>
        </p:blipFill>
        <p:spPr>
          <a:xfrm>
            <a:off x="6572250" y="3038475"/>
            <a:ext cx="190500" cy="190500"/>
          </a:xfrm>
          <a:prstGeom prst="rect">
            <a:avLst/>
          </a:prstGeom>
        </p:spPr>
      </p:pic>
      <p:pic>
        <p:nvPicPr>
          <p:cNvPr id="17" name="Picture 16" descr="image.png"/>
          <p:cNvPicPr>
            <a:picLocks noChangeAspect="1"/>
          </p:cNvPicPr>
          <p:nvPr/>
        </p:nvPicPr>
        <p:blipFill>
          <a:blip r:embed="rId13"/>
          <a:stretch>
            <a:fillRect/>
          </a:stretch>
        </p:blipFill>
        <p:spPr>
          <a:xfrm>
            <a:off x="952500" y="4276725"/>
            <a:ext cx="190500" cy="190500"/>
          </a:xfrm>
          <a:prstGeom prst="rect">
            <a:avLst/>
          </a:prstGeom>
        </p:spPr>
      </p:pic>
      <p:pic>
        <p:nvPicPr>
          <p:cNvPr id="18" name="Picture 17" descr="image.png"/>
          <p:cNvPicPr>
            <a:picLocks noChangeAspect="1"/>
          </p:cNvPicPr>
          <p:nvPr/>
        </p:nvPicPr>
        <p:blipFill>
          <a:blip r:embed="rId14"/>
          <a:stretch>
            <a:fillRect/>
          </a:stretch>
        </p:blipFill>
        <p:spPr>
          <a:xfrm>
            <a:off x="6572250" y="4276725"/>
            <a:ext cx="190500" cy="190500"/>
          </a:xfrm>
          <a:prstGeom prst="rect">
            <a:avLst/>
          </a:prstGeom>
        </p:spPr>
      </p:pic>
      <p:sp>
        <p:nvSpPr>
          <p:cNvPr id="19" name="TextBox 18"/>
          <p:cNvSpPr txBox="1"/>
          <p:nvPr/>
        </p:nvSpPr>
        <p:spPr>
          <a:xfrm>
            <a:off x="571500" y="476250"/>
            <a:ext cx="11601450" cy="457200"/>
          </a:xfrm>
          <a:prstGeom prst="rect">
            <a:avLst/>
          </a:prstGeom>
          <a:noFill/>
        </p:spPr>
        <p:txBody>
          <a:bodyPr wrap="square" lIns="0" tIns="0" rIns="0" bIns="0" anchor="ctr">
            <a:spAutoFit/>
          </a:bodyPr>
          <a:lstStyle/>
          <a:p>
            <a:pPr algn="l"/>
            <a:r>
              <a:rPr sz="2850" b="1" i="0" u="none" dirty="0">
                <a:solidFill>
                  <a:srgbClr val="0F172A"/>
                </a:solidFill>
                <a:latin typeface="Outfit"/>
              </a:rPr>
              <a:t>Problem Statement</a:t>
            </a:r>
          </a:p>
        </p:txBody>
      </p:sp>
      <p:sp>
        <p:nvSpPr>
          <p:cNvPr id="20" name="Rounded Rectangle 19"/>
          <p:cNvSpPr/>
          <p:nvPr/>
        </p:nvSpPr>
        <p:spPr>
          <a:xfrm>
            <a:off x="571500" y="933450"/>
            <a:ext cx="76200" cy="36195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276475"/>
            <a:ext cx="5381625" cy="3048000"/>
          </a:xfrm>
          <a:prstGeom prst="rect">
            <a:avLst/>
          </a:prstGeom>
        </p:spPr>
      </p:pic>
      <p:pic>
        <p:nvPicPr>
          <p:cNvPr id="4" name="Picture 3" descr="image.png"/>
          <p:cNvPicPr>
            <a:picLocks noChangeAspect="1"/>
          </p:cNvPicPr>
          <p:nvPr/>
        </p:nvPicPr>
        <p:blipFill>
          <a:blip r:embed="rId4"/>
          <a:stretch>
            <a:fillRect/>
          </a:stretch>
        </p:blipFill>
        <p:spPr>
          <a:xfrm>
            <a:off x="6238875" y="2276475"/>
            <a:ext cx="5381625" cy="3048000"/>
          </a:xfrm>
          <a:prstGeom prst="rect">
            <a:avLst/>
          </a:prstGeom>
        </p:spPr>
      </p:pic>
      <p:sp>
        <p:nvSpPr>
          <p:cNvPr id="5" name="TextBox 4"/>
          <p:cNvSpPr txBox="1"/>
          <p:nvPr/>
        </p:nvSpPr>
        <p:spPr>
          <a:xfrm>
            <a:off x="1219200" y="2581275"/>
            <a:ext cx="4429125" cy="285750"/>
          </a:xfrm>
          <a:prstGeom prst="rect">
            <a:avLst/>
          </a:prstGeom>
          <a:noFill/>
        </p:spPr>
        <p:txBody>
          <a:bodyPr wrap="square" lIns="0" tIns="0" rIns="0" bIns="0" anchor="ctr">
            <a:spAutoFit/>
          </a:bodyPr>
          <a:lstStyle/>
          <a:p>
            <a:pPr algn="l"/>
            <a:r>
              <a:rPr sz="1800" b="1" i="0" u="none">
                <a:solidFill>
                  <a:srgbClr val="991B1B"/>
                </a:solidFill>
                <a:latin typeface="Plus Jakarta Sans"/>
              </a:rPr>
              <a:t>Existing System</a:t>
            </a:r>
          </a:p>
        </p:txBody>
      </p:sp>
      <p:sp>
        <p:nvSpPr>
          <p:cNvPr id="6" name="TextBox 5"/>
          <p:cNvSpPr txBox="1"/>
          <p:nvPr/>
        </p:nvSpPr>
        <p:spPr>
          <a:xfrm>
            <a:off x="6886575" y="2581275"/>
            <a:ext cx="4429125" cy="285750"/>
          </a:xfrm>
          <a:prstGeom prst="rect">
            <a:avLst/>
          </a:prstGeom>
          <a:noFill/>
        </p:spPr>
        <p:txBody>
          <a:bodyPr wrap="square" lIns="0" tIns="0" rIns="0" bIns="0" anchor="ctr">
            <a:spAutoFit/>
          </a:bodyPr>
          <a:lstStyle/>
          <a:p>
            <a:pPr algn="l"/>
            <a:r>
              <a:rPr sz="1800" b="1" i="0" u="none">
                <a:solidFill>
                  <a:srgbClr val="166534"/>
                </a:solidFill>
                <a:latin typeface="Plus Jakarta Sans"/>
              </a:rPr>
              <a:t>Proposed System</a:t>
            </a:r>
          </a:p>
        </p:txBody>
      </p:sp>
      <p:pic>
        <p:nvPicPr>
          <p:cNvPr id="7" name="Picture 6" descr="image.png"/>
          <p:cNvPicPr>
            <a:picLocks noChangeAspect="1"/>
          </p:cNvPicPr>
          <p:nvPr/>
        </p:nvPicPr>
        <p:blipFill>
          <a:blip r:embed="rId5"/>
          <a:stretch>
            <a:fillRect/>
          </a:stretch>
        </p:blipFill>
        <p:spPr>
          <a:xfrm>
            <a:off x="876300" y="2609850"/>
            <a:ext cx="228600" cy="228600"/>
          </a:xfrm>
          <a:prstGeom prst="rect">
            <a:avLst/>
          </a:prstGeom>
        </p:spPr>
      </p:pic>
      <p:sp>
        <p:nvSpPr>
          <p:cNvPr id="8" name="Rounded Rectangle 7"/>
          <p:cNvSpPr/>
          <p:nvPr/>
        </p:nvSpPr>
        <p:spPr>
          <a:xfrm>
            <a:off x="876300" y="3057525"/>
            <a:ext cx="4772025" cy="704850"/>
          </a:xfrm>
          <a:prstGeom prst="roundRect">
            <a:avLst>
              <a:gd name="adj" fmla="val 1351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04925" y="3190875"/>
            <a:ext cx="4171950" cy="438150"/>
          </a:xfrm>
          <a:prstGeom prst="rect">
            <a:avLst/>
          </a:prstGeom>
          <a:noFill/>
        </p:spPr>
        <p:txBody>
          <a:bodyPr wrap="square" lIns="0" tIns="0" rIns="0" bIns="0" anchor="ctr">
            <a:spAutoFit/>
          </a:bodyPr>
          <a:lstStyle/>
          <a:p>
            <a:pPr algn="l"/>
            <a:r>
              <a:rPr sz="1350" b="0" i="0" u="none">
                <a:solidFill>
                  <a:srgbClr val="334155"/>
                </a:solidFill>
                <a:latin typeface="Plus Jakarta Sans Medium"/>
              </a:rPr>
              <a:t>Exam management may require multiple systems or manual work</a:t>
            </a:r>
          </a:p>
        </p:txBody>
      </p:sp>
      <p:sp>
        <p:nvSpPr>
          <p:cNvPr id="10" name="Rounded Rectangle 9"/>
          <p:cNvSpPr/>
          <p:nvPr/>
        </p:nvSpPr>
        <p:spPr>
          <a:xfrm>
            <a:off x="876300" y="3905250"/>
            <a:ext cx="4772025" cy="485775"/>
          </a:xfrm>
          <a:prstGeom prst="roundRect">
            <a:avLst>
              <a:gd name="adj" fmla="val 1960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04925" y="4038600"/>
            <a:ext cx="4171950" cy="219075"/>
          </a:xfrm>
          <a:prstGeom prst="rect">
            <a:avLst/>
          </a:prstGeom>
          <a:noFill/>
        </p:spPr>
        <p:txBody>
          <a:bodyPr wrap="square" lIns="0" tIns="0" rIns="0" bIns="0" anchor="ctr">
            <a:spAutoFit/>
          </a:bodyPr>
          <a:lstStyle/>
          <a:p>
            <a:pPr algn="l"/>
            <a:r>
              <a:rPr sz="1350" b="0" i="0" u="none">
                <a:solidFill>
                  <a:srgbClr val="334155"/>
                </a:solidFill>
                <a:latin typeface="Plus Jakarta Sans Medium"/>
              </a:rPr>
              <a:t>Manual result management can take time</a:t>
            </a:r>
          </a:p>
        </p:txBody>
      </p:sp>
      <p:sp>
        <p:nvSpPr>
          <p:cNvPr id="12" name="Rounded Rectangle 11"/>
          <p:cNvSpPr/>
          <p:nvPr/>
        </p:nvSpPr>
        <p:spPr>
          <a:xfrm>
            <a:off x="876300" y="4533900"/>
            <a:ext cx="4772025" cy="485775"/>
          </a:xfrm>
          <a:prstGeom prst="roundRect">
            <a:avLst>
              <a:gd name="adj" fmla="val 1960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04925" y="4667250"/>
            <a:ext cx="4171950" cy="219075"/>
          </a:xfrm>
          <a:prstGeom prst="rect">
            <a:avLst/>
          </a:prstGeom>
          <a:noFill/>
        </p:spPr>
        <p:txBody>
          <a:bodyPr wrap="square" lIns="0" tIns="0" rIns="0" bIns="0" anchor="ctr">
            <a:spAutoFit/>
          </a:bodyPr>
          <a:lstStyle/>
          <a:p>
            <a:pPr algn="l"/>
            <a:r>
              <a:rPr sz="1350" b="0" i="0" u="none">
                <a:solidFill>
                  <a:srgbClr val="334155"/>
                </a:solidFill>
                <a:latin typeface="Plus Jakarta Sans Medium"/>
              </a:rPr>
              <a:t>Less control over suspicious activities</a:t>
            </a:r>
          </a:p>
        </p:txBody>
      </p:sp>
      <p:pic>
        <p:nvPicPr>
          <p:cNvPr id="14" name="Picture 13" descr="image.png"/>
          <p:cNvPicPr>
            <a:picLocks noChangeAspect="1"/>
          </p:cNvPicPr>
          <p:nvPr/>
        </p:nvPicPr>
        <p:blipFill>
          <a:blip r:embed="rId6"/>
          <a:stretch>
            <a:fillRect/>
          </a:stretch>
        </p:blipFill>
        <p:spPr>
          <a:xfrm>
            <a:off x="6543675" y="2609850"/>
            <a:ext cx="228600" cy="228600"/>
          </a:xfrm>
          <a:prstGeom prst="rect">
            <a:avLst/>
          </a:prstGeom>
        </p:spPr>
      </p:pic>
      <p:sp>
        <p:nvSpPr>
          <p:cNvPr id="15" name="Rounded Rectangle 14"/>
          <p:cNvSpPr/>
          <p:nvPr/>
        </p:nvSpPr>
        <p:spPr>
          <a:xfrm>
            <a:off x="6543675" y="3057525"/>
            <a:ext cx="4772025" cy="485775"/>
          </a:xfrm>
          <a:prstGeom prst="roundRect">
            <a:avLst>
              <a:gd name="adj" fmla="val 1960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00875" y="3190875"/>
            <a:ext cx="4143375" cy="219075"/>
          </a:xfrm>
          <a:prstGeom prst="rect">
            <a:avLst/>
          </a:prstGeom>
          <a:noFill/>
        </p:spPr>
        <p:txBody>
          <a:bodyPr wrap="square" lIns="0" tIns="0" rIns="0" bIns="0" anchor="ctr">
            <a:spAutoFit/>
          </a:bodyPr>
          <a:lstStyle/>
          <a:p>
            <a:pPr algn="l"/>
            <a:r>
              <a:rPr sz="1350" b="0" i="0" u="none">
                <a:solidFill>
                  <a:srgbClr val="334155"/>
                </a:solidFill>
                <a:latin typeface="Plus Jakarta Sans Medium"/>
              </a:rPr>
              <a:t>Exam management in one platform</a:t>
            </a:r>
          </a:p>
        </p:txBody>
      </p:sp>
      <p:sp>
        <p:nvSpPr>
          <p:cNvPr id="17" name="Rounded Rectangle 16"/>
          <p:cNvSpPr/>
          <p:nvPr/>
        </p:nvSpPr>
        <p:spPr>
          <a:xfrm>
            <a:off x="6543675" y="3686175"/>
            <a:ext cx="4772025" cy="485775"/>
          </a:xfrm>
          <a:prstGeom prst="roundRect">
            <a:avLst>
              <a:gd name="adj" fmla="val 1960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00875" y="3819525"/>
            <a:ext cx="4143375" cy="219075"/>
          </a:xfrm>
          <a:prstGeom prst="rect">
            <a:avLst/>
          </a:prstGeom>
          <a:noFill/>
        </p:spPr>
        <p:txBody>
          <a:bodyPr wrap="square" lIns="0" tIns="0" rIns="0" bIns="0" anchor="ctr">
            <a:spAutoFit/>
          </a:bodyPr>
          <a:lstStyle/>
          <a:p>
            <a:pPr algn="l"/>
            <a:r>
              <a:rPr sz="1350" b="0" i="0" u="none">
                <a:solidFill>
                  <a:srgbClr val="334155"/>
                </a:solidFill>
                <a:latin typeface="Plus Jakarta Sans Medium"/>
              </a:rPr>
              <a:t>Basic proctoring and activity recording</a:t>
            </a:r>
          </a:p>
        </p:txBody>
      </p:sp>
      <p:sp>
        <p:nvSpPr>
          <p:cNvPr id="19" name="Rounded Rectangle 18"/>
          <p:cNvSpPr/>
          <p:nvPr/>
        </p:nvSpPr>
        <p:spPr>
          <a:xfrm>
            <a:off x="6543675" y="4314825"/>
            <a:ext cx="4772025" cy="485775"/>
          </a:xfrm>
          <a:prstGeom prst="roundRect">
            <a:avLst>
              <a:gd name="adj" fmla="val 1960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00875" y="4448175"/>
            <a:ext cx="4143375" cy="219075"/>
          </a:xfrm>
          <a:prstGeom prst="rect">
            <a:avLst/>
          </a:prstGeom>
          <a:noFill/>
        </p:spPr>
        <p:txBody>
          <a:bodyPr wrap="square" lIns="0" tIns="0" rIns="0" bIns="0" anchor="ctr">
            <a:spAutoFit/>
          </a:bodyPr>
          <a:lstStyle/>
          <a:p>
            <a:pPr algn="l"/>
            <a:r>
              <a:rPr sz="1350" b="0" i="0" u="none">
                <a:solidFill>
                  <a:srgbClr val="334155"/>
                </a:solidFill>
                <a:latin typeface="Plus Jakarta Sans Medium"/>
              </a:rPr>
              <a:t>Results can be generated and stored digitally</a:t>
            </a:r>
          </a:p>
        </p:txBody>
      </p:sp>
      <p:pic>
        <p:nvPicPr>
          <p:cNvPr id="21" name="Picture 20" descr="image.png"/>
          <p:cNvPicPr>
            <a:picLocks noChangeAspect="1"/>
          </p:cNvPicPr>
          <p:nvPr/>
        </p:nvPicPr>
        <p:blipFill>
          <a:blip r:embed="rId7"/>
          <a:stretch>
            <a:fillRect/>
          </a:stretch>
        </p:blipFill>
        <p:spPr>
          <a:xfrm>
            <a:off x="1047750" y="3309937"/>
            <a:ext cx="142875" cy="200025"/>
          </a:xfrm>
          <a:prstGeom prst="rect">
            <a:avLst/>
          </a:prstGeom>
        </p:spPr>
      </p:pic>
      <p:pic>
        <p:nvPicPr>
          <p:cNvPr id="22" name="Picture 21" descr="image.png"/>
          <p:cNvPicPr>
            <a:picLocks noChangeAspect="1"/>
          </p:cNvPicPr>
          <p:nvPr/>
        </p:nvPicPr>
        <p:blipFill>
          <a:blip r:embed="rId7"/>
          <a:stretch>
            <a:fillRect/>
          </a:stretch>
        </p:blipFill>
        <p:spPr>
          <a:xfrm>
            <a:off x="1047750" y="4048125"/>
            <a:ext cx="142875" cy="200025"/>
          </a:xfrm>
          <a:prstGeom prst="rect">
            <a:avLst/>
          </a:prstGeom>
        </p:spPr>
      </p:pic>
      <p:pic>
        <p:nvPicPr>
          <p:cNvPr id="23" name="Picture 22" descr="image.png"/>
          <p:cNvPicPr>
            <a:picLocks noChangeAspect="1"/>
          </p:cNvPicPr>
          <p:nvPr/>
        </p:nvPicPr>
        <p:blipFill>
          <a:blip r:embed="rId7"/>
          <a:stretch>
            <a:fillRect/>
          </a:stretch>
        </p:blipFill>
        <p:spPr>
          <a:xfrm>
            <a:off x="1047750" y="4676775"/>
            <a:ext cx="142875" cy="200025"/>
          </a:xfrm>
          <a:prstGeom prst="rect">
            <a:avLst/>
          </a:prstGeom>
        </p:spPr>
      </p:pic>
      <p:pic>
        <p:nvPicPr>
          <p:cNvPr id="24" name="Picture 23" descr="image.png"/>
          <p:cNvPicPr>
            <a:picLocks noChangeAspect="1"/>
          </p:cNvPicPr>
          <p:nvPr/>
        </p:nvPicPr>
        <p:blipFill>
          <a:blip r:embed="rId8"/>
          <a:stretch>
            <a:fillRect/>
          </a:stretch>
        </p:blipFill>
        <p:spPr>
          <a:xfrm>
            <a:off x="6715125" y="3200400"/>
            <a:ext cx="171450" cy="200025"/>
          </a:xfrm>
          <a:prstGeom prst="rect">
            <a:avLst/>
          </a:prstGeom>
        </p:spPr>
      </p:pic>
      <p:pic>
        <p:nvPicPr>
          <p:cNvPr id="25" name="Picture 24" descr="image.png"/>
          <p:cNvPicPr>
            <a:picLocks noChangeAspect="1"/>
          </p:cNvPicPr>
          <p:nvPr/>
        </p:nvPicPr>
        <p:blipFill>
          <a:blip r:embed="rId8"/>
          <a:stretch>
            <a:fillRect/>
          </a:stretch>
        </p:blipFill>
        <p:spPr>
          <a:xfrm>
            <a:off x="6715125" y="3829050"/>
            <a:ext cx="171450" cy="200025"/>
          </a:xfrm>
          <a:prstGeom prst="rect">
            <a:avLst/>
          </a:prstGeom>
        </p:spPr>
      </p:pic>
      <p:pic>
        <p:nvPicPr>
          <p:cNvPr id="26" name="Picture 25" descr="image.png"/>
          <p:cNvPicPr>
            <a:picLocks noChangeAspect="1"/>
          </p:cNvPicPr>
          <p:nvPr/>
        </p:nvPicPr>
        <p:blipFill>
          <a:blip r:embed="rId8"/>
          <a:stretch>
            <a:fillRect/>
          </a:stretch>
        </p:blipFill>
        <p:spPr>
          <a:xfrm>
            <a:off x="6715125" y="4457700"/>
            <a:ext cx="171450" cy="200025"/>
          </a:xfrm>
          <a:prstGeom prst="rect">
            <a:avLst/>
          </a:prstGeom>
        </p:spPr>
      </p:pic>
      <p:sp>
        <p:nvSpPr>
          <p:cNvPr id="27" name="TextBox 26"/>
          <p:cNvSpPr txBox="1"/>
          <p:nvPr/>
        </p:nvSpPr>
        <p:spPr>
          <a:xfrm>
            <a:off x="571500" y="476250"/>
            <a:ext cx="11601450" cy="457200"/>
          </a:xfrm>
          <a:prstGeom prst="rect">
            <a:avLst/>
          </a:prstGeom>
          <a:noFill/>
        </p:spPr>
        <p:txBody>
          <a:bodyPr wrap="square" lIns="0" tIns="0" rIns="0" bIns="0" anchor="ctr">
            <a:spAutoFit/>
          </a:bodyPr>
          <a:lstStyle/>
          <a:p>
            <a:pPr algn="l"/>
            <a:r>
              <a:rPr sz="2850" b="1" i="0" u="none" dirty="0">
                <a:solidFill>
                  <a:srgbClr val="0F172A"/>
                </a:solidFill>
                <a:latin typeface="Outfit"/>
              </a:rPr>
              <a:t>Existing vs Proposed System</a:t>
            </a:r>
          </a:p>
        </p:txBody>
      </p:sp>
      <p:sp>
        <p:nvSpPr>
          <p:cNvPr id="28" name="Rounded Rectangle 27"/>
          <p:cNvSpPr/>
          <p:nvPr/>
        </p:nvSpPr>
        <p:spPr>
          <a:xfrm>
            <a:off x="571500" y="933450"/>
            <a:ext cx="76200" cy="36195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63B6AA-F820-2214-B98D-04281D23E2B8}"/>
              </a:ext>
            </a:extLst>
          </p:cNvPr>
          <p:cNvPicPr>
            <a:picLocks noChangeAspect="1"/>
          </p:cNvPicPr>
          <p:nvPr/>
        </p:nvPicPr>
        <p:blipFill>
          <a:blip r:embed="rId2"/>
          <a:stretch>
            <a:fillRect/>
          </a:stretch>
        </p:blipFill>
        <p:spPr>
          <a:xfrm>
            <a:off x="3569111" y="997721"/>
            <a:ext cx="4611007" cy="5728414"/>
          </a:xfrm>
          <a:prstGeom prst="rect">
            <a:avLst/>
          </a:prstGeom>
          <a:ln>
            <a:noFill/>
          </a:ln>
          <a:effectLst>
            <a:softEdge rad="112500"/>
          </a:effectLst>
        </p:spPr>
      </p:pic>
      <p:sp>
        <p:nvSpPr>
          <p:cNvPr id="4" name="TextBox 3">
            <a:extLst>
              <a:ext uri="{FF2B5EF4-FFF2-40B4-BE49-F238E27FC236}">
                <a16:creationId xmlns:a16="http://schemas.microsoft.com/office/drawing/2014/main" id="{2EB39E0D-6A19-F742-A994-FB1F39839F8C}"/>
              </a:ext>
            </a:extLst>
          </p:cNvPr>
          <p:cNvSpPr txBox="1"/>
          <p:nvPr/>
        </p:nvSpPr>
        <p:spPr>
          <a:xfrm>
            <a:off x="825910" y="466806"/>
            <a:ext cx="7855974" cy="530915"/>
          </a:xfrm>
          <a:prstGeom prst="rect">
            <a:avLst/>
          </a:prstGeom>
          <a:noFill/>
        </p:spPr>
        <p:txBody>
          <a:bodyPr wrap="square" rtlCol="0">
            <a:spAutoFit/>
          </a:bodyPr>
          <a:lstStyle/>
          <a:p>
            <a:r>
              <a:rPr lang="en-IN" sz="2850" b="1" dirty="0">
                <a:latin typeface="Outfit"/>
                <a:cs typeface="Times New Roman" panose="02020603050405020304" pitchFamily="18" charset="0"/>
              </a:rPr>
              <a:t>Workflow</a:t>
            </a:r>
          </a:p>
        </p:txBody>
      </p:sp>
    </p:spTree>
    <p:extLst>
      <p:ext uri="{BB962C8B-B14F-4D97-AF65-F5344CB8AC3E}">
        <p14:creationId xmlns:p14="http://schemas.microsoft.com/office/powerpoint/2010/main" val="940128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181225"/>
            <a:ext cx="2619375" cy="3238500"/>
          </a:xfrm>
          <a:prstGeom prst="rect">
            <a:avLst/>
          </a:prstGeom>
        </p:spPr>
      </p:pic>
      <p:pic>
        <p:nvPicPr>
          <p:cNvPr id="4" name="Picture 3" descr="image.png"/>
          <p:cNvPicPr>
            <a:picLocks noChangeAspect="1"/>
          </p:cNvPicPr>
          <p:nvPr/>
        </p:nvPicPr>
        <p:blipFill>
          <a:blip r:embed="rId4"/>
          <a:stretch>
            <a:fillRect/>
          </a:stretch>
        </p:blipFill>
        <p:spPr>
          <a:xfrm>
            <a:off x="3381375" y="2181225"/>
            <a:ext cx="2619375" cy="3238500"/>
          </a:xfrm>
          <a:prstGeom prst="rect">
            <a:avLst/>
          </a:prstGeom>
        </p:spPr>
      </p:pic>
      <p:pic>
        <p:nvPicPr>
          <p:cNvPr id="5" name="Picture 4" descr="image.png"/>
          <p:cNvPicPr>
            <a:picLocks noChangeAspect="1"/>
          </p:cNvPicPr>
          <p:nvPr/>
        </p:nvPicPr>
        <p:blipFill>
          <a:blip r:embed="rId5"/>
          <a:stretch>
            <a:fillRect/>
          </a:stretch>
        </p:blipFill>
        <p:spPr>
          <a:xfrm>
            <a:off x="6191250" y="2181225"/>
            <a:ext cx="2619375" cy="3238500"/>
          </a:xfrm>
          <a:prstGeom prst="rect">
            <a:avLst/>
          </a:prstGeom>
        </p:spPr>
      </p:pic>
      <p:pic>
        <p:nvPicPr>
          <p:cNvPr id="6" name="Picture 5" descr="image.png"/>
          <p:cNvPicPr>
            <a:picLocks noChangeAspect="1"/>
          </p:cNvPicPr>
          <p:nvPr/>
        </p:nvPicPr>
        <p:blipFill>
          <a:blip r:embed="rId6"/>
          <a:stretch>
            <a:fillRect/>
          </a:stretch>
        </p:blipFill>
        <p:spPr>
          <a:xfrm>
            <a:off x="9001125" y="2181225"/>
            <a:ext cx="2619375" cy="3238500"/>
          </a:xfrm>
          <a:prstGeom prst="rect">
            <a:avLst/>
          </a:prstGeom>
        </p:spPr>
      </p:pic>
      <p:pic>
        <p:nvPicPr>
          <p:cNvPr id="7" name="Picture 6" descr="image.png"/>
          <p:cNvPicPr>
            <a:picLocks noChangeAspect="1"/>
          </p:cNvPicPr>
          <p:nvPr/>
        </p:nvPicPr>
        <p:blipFill>
          <a:blip r:embed="rId7"/>
          <a:stretch>
            <a:fillRect/>
          </a:stretch>
        </p:blipFill>
        <p:spPr>
          <a:xfrm>
            <a:off x="771525" y="3533775"/>
            <a:ext cx="2219325" cy="352425"/>
          </a:xfrm>
          <a:prstGeom prst="rect">
            <a:avLst/>
          </a:prstGeom>
        </p:spPr>
      </p:pic>
      <p:pic>
        <p:nvPicPr>
          <p:cNvPr id="8" name="Picture 7" descr="image.png"/>
          <p:cNvPicPr>
            <a:picLocks noChangeAspect="1"/>
          </p:cNvPicPr>
          <p:nvPr/>
        </p:nvPicPr>
        <p:blipFill>
          <a:blip r:embed="rId8"/>
          <a:stretch>
            <a:fillRect/>
          </a:stretch>
        </p:blipFill>
        <p:spPr>
          <a:xfrm>
            <a:off x="771525" y="3962400"/>
            <a:ext cx="2219325" cy="352425"/>
          </a:xfrm>
          <a:prstGeom prst="rect">
            <a:avLst/>
          </a:prstGeom>
        </p:spPr>
      </p:pic>
      <p:pic>
        <p:nvPicPr>
          <p:cNvPr id="9" name="Picture 8" descr="image.png"/>
          <p:cNvPicPr>
            <a:picLocks noChangeAspect="1"/>
          </p:cNvPicPr>
          <p:nvPr/>
        </p:nvPicPr>
        <p:blipFill>
          <a:blip r:embed="rId9"/>
          <a:stretch>
            <a:fillRect/>
          </a:stretch>
        </p:blipFill>
        <p:spPr>
          <a:xfrm>
            <a:off x="771525" y="4391025"/>
            <a:ext cx="2219325" cy="352425"/>
          </a:xfrm>
          <a:prstGeom prst="rect">
            <a:avLst/>
          </a:prstGeom>
        </p:spPr>
      </p:pic>
      <p:pic>
        <p:nvPicPr>
          <p:cNvPr id="10" name="Picture 9" descr="image.png"/>
          <p:cNvPicPr>
            <a:picLocks noChangeAspect="1"/>
          </p:cNvPicPr>
          <p:nvPr/>
        </p:nvPicPr>
        <p:blipFill>
          <a:blip r:embed="rId10"/>
          <a:stretch>
            <a:fillRect/>
          </a:stretch>
        </p:blipFill>
        <p:spPr>
          <a:xfrm>
            <a:off x="771525" y="4819650"/>
            <a:ext cx="2219325" cy="352425"/>
          </a:xfrm>
          <a:prstGeom prst="rect">
            <a:avLst/>
          </a:prstGeom>
        </p:spPr>
      </p:pic>
      <p:pic>
        <p:nvPicPr>
          <p:cNvPr id="11" name="Picture 10" descr="image.png"/>
          <p:cNvPicPr>
            <a:picLocks noChangeAspect="1"/>
          </p:cNvPicPr>
          <p:nvPr/>
        </p:nvPicPr>
        <p:blipFill>
          <a:blip r:embed="rId11"/>
          <a:stretch>
            <a:fillRect/>
          </a:stretch>
        </p:blipFill>
        <p:spPr>
          <a:xfrm>
            <a:off x="3581400" y="3533775"/>
            <a:ext cx="2219325" cy="352425"/>
          </a:xfrm>
          <a:prstGeom prst="rect">
            <a:avLst/>
          </a:prstGeom>
        </p:spPr>
      </p:pic>
      <p:pic>
        <p:nvPicPr>
          <p:cNvPr id="12" name="Picture 11" descr="image.png"/>
          <p:cNvPicPr>
            <a:picLocks noChangeAspect="1"/>
          </p:cNvPicPr>
          <p:nvPr/>
        </p:nvPicPr>
        <p:blipFill>
          <a:blip r:embed="rId12"/>
          <a:stretch>
            <a:fillRect/>
          </a:stretch>
        </p:blipFill>
        <p:spPr>
          <a:xfrm>
            <a:off x="3581400" y="3962400"/>
            <a:ext cx="2219325" cy="352425"/>
          </a:xfrm>
          <a:prstGeom prst="rect">
            <a:avLst/>
          </a:prstGeom>
        </p:spPr>
      </p:pic>
      <p:pic>
        <p:nvPicPr>
          <p:cNvPr id="13" name="Picture 12" descr="image.png"/>
          <p:cNvPicPr>
            <a:picLocks noChangeAspect="1"/>
          </p:cNvPicPr>
          <p:nvPr/>
        </p:nvPicPr>
        <p:blipFill>
          <a:blip r:embed="rId13"/>
          <a:stretch>
            <a:fillRect/>
          </a:stretch>
        </p:blipFill>
        <p:spPr>
          <a:xfrm>
            <a:off x="6391275" y="3533775"/>
            <a:ext cx="2219325" cy="352425"/>
          </a:xfrm>
          <a:prstGeom prst="rect">
            <a:avLst/>
          </a:prstGeom>
        </p:spPr>
      </p:pic>
      <p:pic>
        <p:nvPicPr>
          <p:cNvPr id="14" name="Picture 13" descr="image.png"/>
          <p:cNvPicPr>
            <a:picLocks noChangeAspect="1"/>
          </p:cNvPicPr>
          <p:nvPr/>
        </p:nvPicPr>
        <p:blipFill>
          <a:blip r:embed="rId14"/>
          <a:stretch>
            <a:fillRect/>
          </a:stretch>
        </p:blipFill>
        <p:spPr>
          <a:xfrm>
            <a:off x="9201150" y="3533775"/>
            <a:ext cx="2219325" cy="352425"/>
          </a:xfrm>
          <a:prstGeom prst="rect">
            <a:avLst/>
          </a:prstGeom>
        </p:spPr>
      </p:pic>
      <p:pic>
        <p:nvPicPr>
          <p:cNvPr id="15" name="Picture 14" descr="image.png"/>
          <p:cNvPicPr>
            <a:picLocks noChangeAspect="1"/>
          </p:cNvPicPr>
          <p:nvPr/>
        </p:nvPicPr>
        <p:blipFill>
          <a:blip r:embed="rId15"/>
          <a:stretch>
            <a:fillRect/>
          </a:stretch>
        </p:blipFill>
        <p:spPr>
          <a:xfrm>
            <a:off x="1614487" y="2428875"/>
            <a:ext cx="533400" cy="533400"/>
          </a:xfrm>
          <a:prstGeom prst="rect">
            <a:avLst/>
          </a:prstGeom>
        </p:spPr>
      </p:pic>
      <p:sp>
        <p:nvSpPr>
          <p:cNvPr id="16" name="TextBox 15"/>
          <p:cNvSpPr txBox="1"/>
          <p:nvPr/>
        </p:nvSpPr>
        <p:spPr>
          <a:xfrm>
            <a:off x="1462087" y="3152775"/>
            <a:ext cx="838200" cy="238125"/>
          </a:xfrm>
          <a:prstGeom prst="rect">
            <a:avLst/>
          </a:prstGeom>
          <a:noFill/>
        </p:spPr>
        <p:txBody>
          <a:bodyPr wrap="square" lIns="0" tIns="0" rIns="0" bIns="0" anchor="t">
            <a:spAutoFit/>
          </a:bodyPr>
          <a:lstStyle/>
          <a:p>
            <a:pPr algn="ctr"/>
            <a:r>
              <a:rPr sz="1500" b="1" i="0" u="none">
                <a:solidFill>
                  <a:srgbClr val="1E293B"/>
                </a:solidFill>
                <a:latin typeface="Plus Jakarta Sans"/>
              </a:rPr>
              <a:t>Frontend</a:t>
            </a:r>
          </a:p>
        </p:txBody>
      </p:sp>
      <p:pic>
        <p:nvPicPr>
          <p:cNvPr id="17" name="Picture 16" descr="image.png"/>
          <p:cNvPicPr>
            <a:picLocks noChangeAspect="1"/>
          </p:cNvPicPr>
          <p:nvPr/>
        </p:nvPicPr>
        <p:blipFill>
          <a:blip r:embed="rId16"/>
          <a:stretch>
            <a:fillRect/>
          </a:stretch>
        </p:blipFill>
        <p:spPr>
          <a:xfrm>
            <a:off x="4424362" y="2428875"/>
            <a:ext cx="533400" cy="533400"/>
          </a:xfrm>
          <a:prstGeom prst="rect">
            <a:avLst/>
          </a:prstGeom>
        </p:spPr>
      </p:pic>
      <p:sp>
        <p:nvSpPr>
          <p:cNvPr id="18" name="TextBox 17"/>
          <p:cNvSpPr txBox="1"/>
          <p:nvPr/>
        </p:nvSpPr>
        <p:spPr>
          <a:xfrm>
            <a:off x="4276725" y="3152775"/>
            <a:ext cx="828675" cy="238125"/>
          </a:xfrm>
          <a:prstGeom prst="rect">
            <a:avLst/>
          </a:prstGeom>
          <a:noFill/>
        </p:spPr>
        <p:txBody>
          <a:bodyPr wrap="square" lIns="0" tIns="0" rIns="0" bIns="0" anchor="t">
            <a:spAutoFit/>
          </a:bodyPr>
          <a:lstStyle/>
          <a:p>
            <a:pPr algn="ctr"/>
            <a:r>
              <a:rPr sz="1500" b="1" i="0" u="none">
                <a:solidFill>
                  <a:srgbClr val="1E293B"/>
                </a:solidFill>
                <a:latin typeface="Plus Jakarta Sans"/>
              </a:rPr>
              <a:t>Backend</a:t>
            </a:r>
          </a:p>
        </p:txBody>
      </p:sp>
      <p:pic>
        <p:nvPicPr>
          <p:cNvPr id="19" name="Picture 18" descr="image.png"/>
          <p:cNvPicPr>
            <a:picLocks noChangeAspect="1"/>
          </p:cNvPicPr>
          <p:nvPr/>
        </p:nvPicPr>
        <p:blipFill>
          <a:blip r:embed="rId17"/>
          <a:stretch>
            <a:fillRect/>
          </a:stretch>
        </p:blipFill>
        <p:spPr>
          <a:xfrm>
            <a:off x="7234237" y="2428875"/>
            <a:ext cx="533400" cy="533400"/>
          </a:xfrm>
          <a:prstGeom prst="rect">
            <a:avLst/>
          </a:prstGeom>
        </p:spPr>
      </p:pic>
      <p:sp>
        <p:nvSpPr>
          <p:cNvPr id="20" name="TextBox 19"/>
          <p:cNvSpPr txBox="1"/>
          <p:nvPr/>
        </p:nvSpPr>
        <p:spPr>
          <a:xfrm>
            <a:off x="7053262" y="3152775"/>
            <a:ext cx="895350" cy="238125"/>
          </a:xfrm>
          <a:prstGeom prst="rect">
            <a:avLst/>
          </a:prstGeom>
          <a:noFill/>
        </p:spPr>
        <p:txBody>
          <a:bodyPr wrap="square" lIns="0" tIns="0" rIns="0" bIns="0" anchor="t">
            <a:spAutoFit/>
          </a:bodyPr>
          <a:lstStyle/>
          <a:p>
            <a:pPr algn="ctr"/>
            <a:r>
              <a:rPr sz="1500" b="1" i="0" u="none">
                <a:solidFill>
                  <a:srgbClr val="1E293B"/>
                </a:solidFill>
                <a:latin typeface="Plus Jakarta Sans"/>
              </a:rPr>
              <a:t>Database</a:t>
            </a:r>
          </a:p>
        </p:txBody>
      </p:sp>
      <p:pic>
        <p:nvPicPr>
          <p:cNvPr id="21" name="Picture 20" descr="image.png"/>
          <p:cNvPicPr>
            <a:picLocks noChangeAspect="1"/>
          </p:cNvPicPr>
          <p:nvPr/>
        </p:nvPicPr>
        <p:blipFill>
          <a:blip r:embed="rId18"/>
          <a:stretch>
            <a:fillRect/>
          </a:stretch>
        </p:blipFill>
        <p:spPr>
          <a:xfrm>
            <a:off x="10044112" y="2428875"/>
            <a:ext cx="533400" cy="533400"/>
          </a:xfrm>
          <a:prstGeom prst="rect">
            <a:avLst/>
          </a:prstGeom>
        </p:spPr>
      </p:pic>
      <p:sp>
        <p:nvSpPr>
          <p:cNvPr id="22" name="TextBox 21"/>
          <p:cNvSpPr txBox="1"/>
          <p:nvPr/>
        </p:nvSpPr>
        <p:spPr>
          <a:xfrm>
            <a:off x="9239250" y="3152775"/>
            <a:ext cx="2143125" cy="238125"/>
          </a:xfrm>
          <a:prstGeom prst="rect">
            <a:avLst/>
          </a:prstGeom>
          <a:noFill/>
        </p:spPr>
        <p:txBody>
          <a:bodyPr wrap="square" lIns="0" tIns="0" rIns="0" bIns="0" anchor="t">
            <a:spAutoFit/>
          </a:bodyPr>
          <a:lstStyle/>
          <a:p>
            <a:pPr algn="ctr"/>
            <a:r>
              <a:rPr sz="1500" b="1" i="0" u="none">
                <a:solidFill>
                  <a:srgbClr val="1E293B"/>
                </a:solidFill>
                <a:latin typeface="Plus Jakarta Sans"/>
              </a:rPr>
              <a:t>Development &amp; Testing</a:t>
            </a:r>
          </a:p>
        </p:txBody>
      </p:sp>
      <p:pic>
        <p:nvPicPr>
          <p:cNvPr id="23" name="Picture 22" descr="image.png"/>
          <p:cNvPicPr>
            <a:picLocks noChangeAspect="1"/>
          </p:cNvPicPr>
          <p:nvPr/>
        </p:nvPicPr>
        <p:blipFill>
          <a:blip r:embed="rId19"/>
          <a:stretch>
            <a:fillRect/>
          </a:stretch>
        </p:blipFill>
        <p:spPr>
          <a:xfrm>
            <a:off x="1743075" y="2571750"/>
            <a:ext cx="276225" cy="247650"/>
          </a:xfrm>
          <a:prstGeom prst="rect">
            <a:avLst/>
          </a:prstGeom>
        </p:spPr>
      </p:pic>
      <p:pic>
        <p:nvPicPr>
          <p:cNvPr id="24" name="Picture 23" descr="image.png"/>
          <p:cNvPicPr>
            <a:picLocks noChangeAspect="1"/>
          </p:cNvPicPr>
          <p:nvPr/>
        </p:nvPicPr>
        <p:blipFill>
          <a:blip r:embed="rId20"/>
          <a:stretch>
            <a:fillRect/>
          </a:stretch>
        </p:blipFill>
        <p:spPr>
          <a:xfrm>
            <a:off x="4567237" y="2571750"/>
            <a:ext cx="247650" cy="247650"/>
          </a:xfrm>
          <a:prstGeom prst="rect">
            <a:avLst/>
          </a:prstGeom>
        </p:spPr>
      </p:pic>
      <p:pic>
        <p:nvPicPr>
          <p:cNvPr id="25" name="Picture 24" descr="image.png"/>
          <p:cNvPicPr>
            <a:picLocks noChangeAspect="1"/>
          </p:cNvPicPr>
          <p:nvPr/>
        </p:nvPicPr>
        <p:blipFill>
          <a:blip r:embed="rId21"/>
          <a:stretch>
            <a:fillRect/>
          </a:stretch>
        </p:blipFill>
        <p:spPr>
          <a:xfrm>
            <a:off x="7391400" y="2571750"/>
            <a:ext cx="219075" cy="247650"/>
          </a:xfrm>
          <a:prstGeom prst="rect">
            <a:avLst/>
          </a:prstGeom>
        </p:spPr>
      </p:pic>
      <p:pic>
        <p:nvPicPr>
          <p:cNvPr id="26" name="Picture 25" descr="image.png"/>
          <p:cNvPicPr>
            <a:picLocks noChangeAspect="1"/>
          </p:cNvPicPr>
          <p:nvPr/>
        </p:nvPicPr>
        <p:blipFill>
          <a:blip r:embed="rId22"/>
          <a:stretch>
            <a:fillRect/>
          </a:stretch>
        </p:blipFill>
        <p:spPr>
          <a:xfrm>
            <a:off x="10153650" y="2571750"/>
            <a:ext cx="314325" cy="247650"/>
          </a:xfrm>
          <a:prstGeom prst="rect">
            <a:avLst/>
          </a:prstGeom>
        </p:spPr>
      </p:pic>
      <p:sp>
        <p:nvSpPr>
          <p:cNvPr id="27" name="TextBox 26"/>
          <p:cNvSpPr txBox="1"/>
          <p:nvPr/>
        </p:nvSpPr>
        <p:spPr>
          <a:xfrm>
            <a:off x="571500" y="476250"/>
            <a:ext cx="11601450" cy="457200"/>
          </a:xfrm>
          <a:prstGeom prst="rect">
            <a:avLst/>
          </a:prstGeom>
          <a:noFill/>
        </p:spPr>
        <p:txBody>
          <a:bodyPr wrap="square" lIns="0" tIns="0" rIns="0" bIns="0" anchor="ctr">
            <a:spAutoFit/>
          </a:bodyPr>
          <a:lstStyle/>
          <a:p>
            <a:pPr algn="l"/>
            <a:r>
              <a:rPr sz="2850" b="1" i="0" u="none">
                <a:solidFill>
                  <a:srgbClr val="0F172A"/>
                </a:solidFill>
                <a:latin typeface="Outfit"/>
              </a:rPr>
              <a:t>Tools Used</a:t>
            </a:r>
          </a:p>
        </p:txBody>
      </p:sp>
      <p:sp>
        <p:nvSpPr>
          <p:cNvPr id="28" name="Rounded Rectangle 27"/>
          <p:cNvSpPr/>
          <p:nvPr/>
        </p:nvSpPr>
        <p:spPr>
          <a:xfrm>
            <a:off x="571500" y="933450"/>
            <a:ext cx="76200" cy="36195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a:extLst>
              <a:ext uri="{FF2B5EF4-FFF2-40B4-BE49-F238E27FC236}">
                <a16:creationId xmlns:a16="http://schemas.microsoft.com/office/drawing/2014/main" id="{1888A3EC-0DC0-4A78-8A39-07A527B9B6BE}"/>
              </a:ext>
            </a:extLst>
          </p:cNvPr>
          <p:cNvPicPr>
            <a:picLocks noChangeAspect="1"/>
          </p:cNvPicPr>
          <p:nvPr/>
        </p:nvPicPr>
        <p:blipFill>
          <a:blip r:embed="rId2"/>
          <a:stretch>
            <a:fillRect/>
          </a:stretch>
        </p:blipFill>
        <p:spPr>
          <a:xfrm>
            <a:off x="1141772" y="2152266"/>
            <a:ext cx="7697428" cy="2016611"/>
          </a:xfrm>
          <a:prstGeom prst="rect">
            <a:avLst/>
          </a:prstGeom>
        </p:spPr>
      </p:pic>
      <p:sp>
        <p:nvSpPr>
          <p:cNvPr id="5" name="TextBox 4">
            <a:extLst>
              <a:ext uri="{FF2B5EF4-FFF2-40B4-BE49-F238E27FC236}">
                <a16:creationId xmlns:a16="http://schemas.microsoft.com/office/drawing/2014/main" id="{3C9AF00E-9977-F8F6-0C89-AB98122BDBCE}"/>
              </a:ext>
            </a:extLst>
          </p:cNvPr>
          <p:cNvSpPr txBox="1"/>
          <p:nvPr/>
        </p:nvSpPr>
        <p:spPr>
          <a:xfrm>
            <a:off x="1141771" y="648943"/>
            <a:ext cx="6096000" cy="530915"/>
          </a:xfrm>
          <a:prstGeom prst="rect">
            <a:avLst/>
          </a:prstGeom>
          <a:noFill/>
        </p:spPr>
        <p:txBody>
          <a:bodyPr wrap="square">
            <a:spAutoFit/>
          </a:bodyPr>
          <a:lstStyle/>
          <a:p>
            <a:pPr algn="l"/>
            <a:r>
              <a:rPr lang="en-IN" sz="2850" b="1" i="0" u="none" dirty="0">
                <a:solidFill>
                  <a:srgbClr val="0F172A"/>
                </a:solidFill>
                <a:latin typeface="Outfit"/>
              </a:rPr>
              <a:t>Conclusion</a:t>
            </a:r>
          </a:p>
        </p:txBody>
      </p:sp>
      <p:sp>
        <p:nvSpPr>
          <p:cNvPr id="7" name="TextBox 6">
            <a:extLst>
              <a:ext uri="{FF2B5EF4-FFF2-40B4-BE49-F238E27FC236}">
                <a16:creationId xmlns:a16="http://schemas.microsoft.com/office/drawing/2014/main" id="{FAAABDEA-DCF8-2E60-0AE9-698D2D390222}"/>
              </a:ext>
            </a:extLst>
          </p:cNvPr>
          <p:cNvSpPr txBox="1"/>
          <p:nvPr/>
        </p:nvSpPr>
        <p:spPr>
          <a:xfrm>
            <a:off x="1376515" y="2386647"/>
            <a:ext cx="6902246" cy="1477328"/>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The platform provides a simple and secure way to conduct online examinations.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It helps faculty manage exams and results while monitoring basic suspicious activities.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Overall, it improves the efficiency and reliability of online examinations.</a:t>
            </a:r>
          </a:p>
        </p:txBody>
      </p:sp>
    </p:spTree>
    <p:extLst>
      <p:ext uri="{BB962C8B-B14F-4D97-AF65-F5344CB8AC3E}">
        <p14:creationId xmlns:p14="http://schemas.microsoft.com/office/powerpoint/2010/main" val="1667487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319</Words>
  <Application>Microsoft Office PowerPoint</Application>
  <PresentationFormat>Widescreen</PresentationFormat>
  <Paragraphs>31</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Arial</vt:lpstr>
      <vt:lpstr>Calibri</vt:lpstr>
      <vt:lpstr>monospace SemiBold</vt:lpstr>
      <vt:lpstr>Outfit</vt:lpstr>
      <vt:lpstr>Outfit ExtraBold</vt:lpstr>
      <vt:lpstr>Plus Jakarta Sans</vt:lpstr>
      <vt:lpstr>Plus Jakarta Sans Medium</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Polisetty Sreeharsha</cp:lastModifiedBy>
  <cp:revision>3</cp:revision>
  <dcterms:created xsi:type="dcterms:W3CDTF">2013-01-27T09:14:16Z</dcterms:created>
  <dcterms:modified xsi:type="dcterms:W3CDTF">2026-08-27T17:10:42Z</dcterms:modified>
  <cp:category/>
</cp:coreProperties>
</file>